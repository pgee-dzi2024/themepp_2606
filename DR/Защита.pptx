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2"/>
  </p:notesMasterIdLst>
  <p:sldIdLst>
    <p:sldId id="256" r:id="rId2"/>
    <p:sldId id="258" r:id="rId3"/>
    <p:sldId id="265" r:id="rId4"/>
    <p:sldId id="260" r:id="rId5"/>
    <p:sldId id="262" r:id="rId6"/>
    <p:sldId id="263" r:id="rId7"/>
    <p:sldId id="264" r:id="rId8"/>
    <p:sldId id="266" r:id="rId9"/>
    <p:sldId id="261" r:id="rId10"/>
    <p:sldId id="259" r:id="rId11"/>
  </p:sldIdLst>
  <p:sldSz cx="18288000" cy="10287000"/>
  <p:notesSz cx="6858000" cy="9144000"/>
  <p:embeddedFontLst>
    <p:embeddedFont>
      <p:font typeface="Calibri" panose="020F0502020204030204" pitchFamily="34" charset="0"/>
      <p:regular r:id="rId13"/>
      <p:bold r:id="rId14"/>
      <p:italic r:id="rId15"/>
      <p:boldItalic r:id="rId16"/>
    </p:embeddedFont>
    <p:embeddedFont>
      <p:font typeface="Canva Sans Bold" panose="020B0604020202020204" charset="0"/>
      <p:regular r:id="rId1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3E0EB"/>
    <a:srgbClr val="FCDF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398" autoAdjust="0"/>
    <p:restoredTop sz="73383" autoAdjust="0"/>
  </p:normalViewPr>
  <p:slideViewPr>
    <p:cSldViewPr>
      <p:cViewPr varScale="1">
        <p:scale>
          <a:sx n="56" d="100"/>
          <a:sy n="56" d="100"/>
        </p:scale>
        <p:origin x="1512" y="-19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EA1198-2A86-474E-A6A0-AC2BDB7959EA}" type="datetimeFigureOut">
              <a:rPr lang="bg-BG" smtClean="0"/>
              <a:t>12.5.2026 г.</a:t>
            </a:fld>
            <a:endParaRPr lang="bg-B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bg-B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EEF0E7F-7FC3-419E-82C9-4F159C3F324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7552714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Уважаема, г-жо Директор, Уважаема комисия уважаеми гости….</a:t>
            </a:r>
          </a:p>
          <a:p>
            <a:r>
              <a:rPr lang="ru-RU" dirty="0" smtClean="0"/>
              <a:t>(ако има такива/или поименно- ако е един конкретен гост)</a:t>
            </a:r>
          </a:p>
          <a:p>
            <a:r>
              <a:rPr lang="ru-RU" dirty="0" smtClean="0"/>
              <a:t>Аз съм Елонка Назърова</a:t>
            </a:r>
          </a:p>
          <a:p>
            <a:r>
              <a:rPr lang="ru-RU" dirty="0" smtClean="0"/>
              <a:t>Темата на моя дипломен проект е „Виртуално студио за маникюр“.Насочен е към създаването на приложение, което позволява на потребителите да изпробват различни маникюрни дизайни виртуално върху собствената си ръка.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EF0E7F-7FC3-419E-82C9-4F159C3F3243}" type="slidenum">
              <a:rPr lang="bg-BG" smtClean="0"/>
              <a:t>1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31967706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последните години дигиталните технологии навлизат все повече в сферата на красотата.Много клиенти се колебаят какъв маникюр да изберат и искат да видят предварителен резултат.Затова виртуалните приложения са актуални, защото позволяват лесна и бърза визуализация на различни дизайни.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EF0E7F-7FC3-419E-82C9-4F159C3F3243}" type="slidenum">
              <a:rPr lang="bg-BG" smtClean="0"/>
              <a:t>2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5722825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smtClean="0"/>
              <a:t>Основната цел на проекта е създаване на приложение, което позволява на потребителя първо да избере маникюрен дизайн от галерия, а след това да качи снимка на ръката си или да използва камерата, за да види как избраният дизайн би изглеждал върху ноктите му.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EF0E7F-7FC3-419E-82C9-4F159C3F3243}" type="slidenum">
              <a:rPr lang="bg-BG" smtClean="0"/>
              <a:t>3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8114403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dirty="0" smtClean="0"/>
              <a:t>Проектът е разработен с </a:t>
            </a:r>
            <a:r>
              <a:rPr lang="en-US" dirty="0" smtClean="0"/>
              <a:t>Python. </a:t>
            </a:r>
            <a:r>
              <a:rPr lang="bg-BG" dirty="0" smtClean="0"/>
              <a:t>Сървърната част е реализирана с </a:t>
            </a:r>
            <a:r>
              <a:rPr lang="en-US" dirty="0" smtClean="0"/>
              <a:t>Django, </a:t>
            </a:r>
            <a:r>
              <a:rPr lang="bg-BG" dirty="0" smtClean="0"/>
              <a:t>разпознаването на ръката – с </a:t>
            </a:r>
            <a:r>
              <a:rPr lang="en-US" dirty="0" err="1" smtClean="0"/>
              <a:t>MediaPipe</a:t>
            </a:r>
            <a:r>
              <a:rPr lang="en-US" dirty="0" smtClean="0"/>
              <a:t>, </a:t>
            </a:r>
            <a:r>
              <a:rPr lang="bg-BG" dirty="0" smtClean="0"/>
              <a:t>а обработката на изображения – с </a:t>
            </a:r>
            <a:r>
              <a:rPr lang="en-US" dirty="0" err="1" smtClean="0"/>
              <a:t>OpenCV</a:t>
            </a:r>
            <a:r>
              <a:rPr lang="en-US" dirty="0" smtClean="0"/>
              <a:t> </a:t>
            </a:r>
            <a:r>
              <a:rPr lang="bg-BG" dirty="0" smtClean="0"/>
              <a:t>и </a:t>
            </a:r>
            <a:r>
              <a:rPr lang="en-US" dirty="0" smtClean="0"/>
              <a:t>Pillow. </a:t>
            </a:r>
            <a:r>
              <a:rPr lang="bg-BG" dirty="0" smtClean="0"/>
              <a:t>Потребителският интерфейс е изграден с </a:t>
            </a:r>
            <a:r>
              <a:rPr lang="en-US" dirty="0" smtClean="0"/>
              <a:t>HTML, CSS </a:t>
            </a:r>
            <a:r>
              <a:rPr lang="bg-BG" dirty="0" smtClean="0"/>
              <a:t>и </a:t>
            </a:r>
            <a:r>
              <a:rPr lang="en-US" dirty="0" smtClean="0"/>
              <a:t>JavaScript.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EF0E7F-7FC3-419E-82C9-4F159C3F3243}" type="slidenum">
              <a:rPr lang="bg-BG" smtClean="0"/>
              <a:t>4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4516454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Компютърното зрение позволява на компютрите да разпознават изображения. В проекта се използва </a:t>
            </a:r>
            <a:r>
              <a:rPr lang="bg-BG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MediaPipe</a:t>
            </a: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която открива 21 ключови</a:t>
            </a:r>
            <a:r>
              <a:rPr lang="bg-BG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точки на ръката и чрез тях се определя позицията и ориентацията на ноктите.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EF0E7F-7FC3-419E-82C9-4F159C3F3243}" type="slidenum">
              <a:rPr lang="bg-BG" smtClean="0"/>
              <a:t>5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4588028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 по-реалистична визия се използват техники за обработка на изображения – цветови модели като RGB и RGBA, промени в размера и завъртане на изображението, както и </a:t>
            </a:r>
            <a:r>
              <a:rPr lang="bg-BG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alpha</a:t>
            </a: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bg-BG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blending</a:t>
            </a: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за плавно наслагване на дизайна върху ноктите.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EF0E7F-7FC3-419E-82C9-4F159C3F3243}" type="slidenum">
              <a:rPr lang="bg-BG" smtClean="0"/>
              <a:t>6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77309131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Първо се избира дизайн от галерията. След това се качва снимка или се използва камера. Системата открива ръката и ноктите, а накрая адаптира дизайна и го наслагва върху тях.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EF0E7F-7FC3-419E-82C9-4F159C3F3243}" type="slidenum">
              <a:rPr lang="bg-BG" smtClean="0"/>
              <a:t>7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63895830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Приложението позволява качване на снимка или използване на камера в реално време. То автоматично разпознава ръката и пръстите, а избраният </a:t>
            </a:r>
            <a:r>
              <a:rPr lang="bg-BG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маникюрен</a:t>
            </a: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дизайн се наслагва върху ноктите и се показва веднага.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EF0E7F-7FC3-419E-82C9-4F159C3F3243}" type="slidenum">
              <a:rPr lang="bg-BG" smtClean="0"/>
              <a:t>8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63089027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smtClean="0"/>
              <a:t>Създаденото приложение</a:t>
            </a:r>
            <a:r>
              <a:rPr lang="ru-RU" baseline="0" dirty="0" smtClean="0"/>
              <a:t> </a:t>
            </a:r>
            <a:r>
              <a:rPr lang="ru-RU" dirty="0" smtClean="0"/>
              <a:t> </a:t>
            </a:r>
            <a:r>
              <a:rPr lang="ru-RU" dirty="0" err="1" smtClean="0"/>
              <a:t>показва</a:t>
            </a:r>
            <a:r>
              <a:rPr lang="ru-RU" dirty="0" smtClean="0"/>
              <a:t> как </a:t>
            </a:r>
            <a:r>
              <a:rPr lang="ru-RU" dirty="0" err="1" smtClean="0"/>
              <a:t>компютърното</a:t>
            </a:r>
            <a:r>
              <a:rPr lang="ru-RU" dirty="0" smtClean="0"/>
              <a:t> зрение и </a:t>
            </a:r>
            <a:r>
              <a:rPr lang="ru-RU" dirty="0" err="1" smtClean="0"/>
              <a:t>обработката</a:t>
            </a:r>
            <a:r>
              <a:rPr lang="ru-RU" dirty="0" smtClean="0"/>
              <a:t> на изображения </a:t>
            </a:r>
            <a:r>
              <a:rPr lang="ru-RU" dirty="0" err="1" smtClean="0"/>
              <a:t>могат</a:t>
            </a:r>
            <a:r>
              <a:rPr lang="ru-RU" dirty="0" smtClean="0"/>
              <a:t> да се </a:t>
            </a:r>
            <a:r>
              <a:rPr lang="ru-RU" dirty="0" err="1" smtClean="0"/>
              <a:t>използват</a:t>
            </a:r>
            <a:r>
              <a:rPr lang="ru-RU" dirty="0" smtClean="0"/>
              <a:t> за </a:t>
            </a:r>
            <a:r>
              <a:rPr lang="ru-RU" dirty="0" err="1" smtClean="0"/>
              <a:t>интерактивни</a:t>
            </a:r>
            <a:r>
              <a:rPr lang="ru-RU" dirty="0" smtClean="0"/>
              <a:t> </a:t>
            </a:r>
            <a:r>
              <a:rPr lang="ru-RU" dirty="0" err="1" smtClean="0"/>
              <a:t>дигитални</a:t>
            </a:r>
            <a:r>
              <a:rPr lang="ru-RU" dirty="0" smtClean="0"/>
              <a:t> решения. </a:t>
            </a: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бъдеще системата може да се подобри и да се приложи в индустрията за красота.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EF0E7F-7FC3-419E-82C9-4F159C3F3243}" type="slidenum">
              <a:rPr lang="bg-BG" smtClean="0"/>
              <a:t>9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8837378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Благодаря ви за вниманието.</a:t>
            </a:r>
          </a:p>
          <a:p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Готова съм да отговоря на вашите въпроси?</a:t>
            </a:r>
          </a:p>
          <a:p>
            <a:endParaRPr lang="ru-RU" dirty="0" smtClean="0"/>
          </a:p>
          <a:p>
            <a:r>
              <a:rPr lang="ru-RU" dirty="0" smtClean="0"/>
              <a:t>Едно от предизвикателствата, на които бях подложена, беше точното изчисляване на размера и завъртането на изображението. В Python има различни библиотеки за работа с изображения, една от тях е </a:t>
            </a:r>
            <a:r>
              <a:rPr lang="ru-RU" b="1" dirty="0" smtClean="0"/>
              <a:t>MediaPipe</a:t>
            </a:r>
            <a:r>
              <a:rPr lang="ru-RU" dirty="0" smtClean="0"/>
              <a:t>, която открива ръката и важни точки по нея. С помощта на тези точки се изчисляват мащабът и ъгълът на завъртане. Понеже снимките не винаги са еднакви – ръката може да е под различен ъгъл или при различна светлина – точността понякога може да бъде различна и изображението да не се подравни напълно точно.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EF0E7F-7FC3-419E-82C9-4F159C3F3243}" type="slidenum">
              <a:rPr lang="bg-BG" smtClean="0"/>
              <a:t>10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5682623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5/12/2026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5/12/2026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5/12/2026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svg"/><Relationship Id="rId5" Type="http://schemas.openxmlformats.org/officeDocument/2006/relationships/image" Target="../media/image2.png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svg"/><Relationship Id="rId5" Type="http://schemas.openxmlformats.org/officeDocument/2006/relationships/image" Target="../media/image2.png"/><Relationship Id="rId4" Type="http://schemas.openxmlformats.org/officeDocument/2006/relationships/image" Target="../media/image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3E0EB"/>
            </a:gs>
            <a:gs pos="74000">
              <a:srgbClr val="F3E0EB"/>
            </a:gs>
            <a:gs pos="92928">
              <a:srgbClr val="F8DFE3"/>
            </a:gs>
            <a:gs pos="83000">
              <a:srgbClr val="F3E0EB"/>
            </a:gs>
            <a:gs pos="100000">
              <a:srgbClr val="F3E0EB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 5"/>
          <p:cNvSpPr/>
          <p:nvPr/>
        </p:nvSpPr>
        <p:spPr>
          <a:xfrm rot="1554809">
            <a:off x="-766405" y="5694488"/>
            <a:ext cx="5430656" cy="5065321"/>
          </a:xfrm>
          <a:custGeom>
            <a:avLst/>
            <a:gdLst/>
            <a:ahLst/>
            <a:cxnLst/>
            <a:rect l="l" t="t" r="r" b="b"/>
            <a:pathLst>
              <a:path w="5430656" h="5065321">
                <a:moveTo>
                  <a:pt x="0" y="0"/>
                </a:moveTo>
                <a:lnTo>
                  <a:pt x="5430656" y="0"/>
                </a:lnTo>
                <a:lnTo>
                  <a:pt x="5430656" y="5065321"/>
                </a:lnTo>
                <a:lnTo>
                  <a:pt x="0" y="506532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="" xmlns:asvg="http://schemas.microsoft.com/office/drawing/2016/SVG/main" r:embed="rId4"/>
                </a:ext>
              </a:extLst>
            </a:blip>
            <a:stretch>
              <a:fillRect/>
            </a:stretch>
          </a:blipFill>
          <a:scene3d>
            <a:camera prst="orthographicFront"/>
            <a:lightRig rig="threePt" dir="t"/>
          </a:scene3d>
          <a:sp3d contourW="12700">
            <a:contourClr>
              <a:srgbClr val="F3E0EB"/>
            </a:contourClr>
          </a:sp3d>
        </p:spPr>
      </p:sp>
      <p:sp>
        <p:nvSpPr>
          <p:cNvPr id="6" name="Freeform 6"/>
          <p:cNvSpPr/>
          <p:nvPr/>
        </p:nvSpPr>
        <p:spPr>
          <a:xfrm>
            <a:off x="14735400" y="-266700"/>
            <a:ext cx="3852949" cy="4114800"/>
          </a:xfrm>
          <a:custGeom>
            <a:avLst/>
            <a:gdLst/>
            <a:ahLst/>
            <a:cxnLst/>
            <a:rect l="l" t="t" r="r" b="b"/>
            <a:pathLst>
              <a:path w="3852949" h="4114800">
                <a:moveTo>
                  <a:pt x="0" y="0"/>
                </a:moveTo>
                <a:lnTo>
                  <a:pt x="3852949" y="0"/>
                </a:lnTo>
                <a:lnTo>
                  <a:pt x="3852949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="" xmlns:asvg="http://schemas.microsoft.com/office/drawing/2016/SVG/main" r:embed="rId6"/>
                </a:ext>
              </a:extLst>
            </a:blip>
            <a:stretch>
              <a:fillRect/>
            </a:stretch>
          </a:blipFill>
          <a:scene3d>
            <a:camera prst="orthographicFront"/>
            <a:lightRig rig="threePt" dir="t"/>
          </a:scene3d>
          <a:sp3d extrusionH="76200" contourW="12700">
            <a:extrusionClr>
              <a:srgbClr val="F3E0EB"/>
            </a:extrusionClr>
            <a:contourClr>
              <a:srgbClr val="F3E0EB"/>
            </a:contourClr>
          </a:sp3d>
        </p:spPr>
      </p:sp>
      <p:sp>
        <p:nvSpPr>
          <p:cNvPr id="7" name="Freeform 7"/>
          <p:cNvSpPr/>
          <p:nvPr/>
        </p:nvSpPr>
        <p:spPr>
          <a:xfrm>
            <a:off x="239919" y="411480"/>
            <a:ext cx="3418007" cy="3048000"/>
          </a:xfrm>
          <a:custGeom>
            <a:avLst/>
            <a:gdLst/>
            <a:ahLst/>
            <a:cxnLst/>
            <a:rect l="l" t="t" r="r" b="b"/>
            <a:pathLst>
              <a:path w="2428058" h="2261188">
                <a:moveTo>
                  <a:pt x="0" y="0"/>
                </a:moveTo>
                <a:lnTo>
                  <a:pt x="2428057" y="0"/>
                </a:lnTo>
                <a:lnTo>
                  <a:pt x="2428057" y="2261188"/>
                </a:lnTo>
                <a:lnTo>
                  <a:pt x="0" y="226118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t="-7379"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12268200" y="9410700"/>
            <a:ext cx="4934401" cy="3590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799"/>
              </a:lnSpc>
              <a:spcBef>
                <a:spcPct val="0"/>
              </a:spcBef>
            </a:pPr>
            <a:r>
              <a:rPr lang="en-US" sz="2800" b="1" dirty="0">
                <a:solidFill>
                  <a:srgbClr val="2B207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Дипломант:Елонка Назърова 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3886200" y="4946072"/>
            <a:ext cx="10591801" cy="41036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156"/>
              </a:lnSpc>
              <a:spcBef>
                <a:spcPct val="0"/>
              </a:spcBef>
            </a:pPr>
            <a:r>
              <a:rPr lang="en-US" sz="3600" b="1" dirty="0">
                <a:solidFill>
                  <a:srgbClr val="2B207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Тема</a:t>
            </a:r>
            <a:r>
              <a:rPr lang="en-US" sz="3600" b="1" dirty="0" smtClean="0">
                <a:solidFill>
                  <a:srgbClr val="2B207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:</a:t>
            </a:r>
            <a:r>
              <a:rPr lang="bg-BG" sz="3600" b="1" dirty="0" smtClean="0">
                <a:solidFill>
                  <a:srgbClr val="2B207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</a:t>
            </a:r>
            <a:r>
              <a:rPr lang="en-US" sz="2800" b="1" dirty="0" smtClean="0">
                <a:solidFill>
                  <a:srgbClr val="2B207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Виртуално </a:t>
            </a:r>
            <a:r>
              <a:rPr lang="en-US" sz="2800" b="1" dirty="0">
                <a:solidFill>
                  <a:srgbClr val="2B207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студио за маникюр (Virtual Nail Art Try‑On). 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2971800" y="1095004"/>
            <a:ext cx="11658600" cy="107721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799"/>
              </a:lnSpc>
            </a:pPr>
            <a:r>
              <a:rPr lang="en-US" sz="2000" b="1" dirty="0">
                <a:solidFill>
                  <a:srgbClr val="2B207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Държавен изпит за придобиване на трета степен на професионална квалификация  - част по теорията на професията </a:t>
            </a:r>
            <a:r>
              <a:rPr lang="en-US" sz="2000" b="1" dirty="0" smtClean="0">
                <a:solidFill>
                  <a:srgbClr val="2B207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по </a:t>
            </a:r>
            <a:r>
              <a:rPr lang="en-US" sz="2000" b="1" dirty="0">
                <a:solidFill>
                  <a:srgbClr val="2B207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професия код 481030  „Приложен програмист”</a:t>
            </a:r>
          </a:p>
          <a:p>
            <a:pPr algn="ctr">
              <a:lnSpc>
                <a:spcPts val="2799"/>
              </a:lnSpc>
              <a:spcBef>
                <a:spcPct val="0"/>
              </a:spcBef>
            </a:pPr>
            <a:r>
              <a:rPr lang="en-US" sz="2000" b="1" dirty="0">
                <a:solidFill>
                  <a:srgbClr val="2B207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специалност код 4810301 „Приложно програмиране”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571500"/>
            <a:ext cx="16620066" cy="92964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16159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3E0EB"/>
            </a:gs>
            <a:gs pos="74000">
              <a:srgbClr val="F3E0EB"/>
            </a:gs>
            <a:gs pos="83000">
              <a:srgbClr val="F3E0EB"/>
            </a:gs>
            <a:gs pos="100000">
              <a:srgbClr val="F3E0EB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5000" y="945952"/>
            <a:ext cx="14249400" cy="879458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3" name="TextBox 2"/>
          <p:cNvSpPr txBox="1"/>
          <p:nvPr/>
        </p:nvSpPr>
        <p:spPr>
          <a:xfrm>
            <a:off x="4572000" y="190500"/>
            <a:ext cx="88392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bg-BG" sz="3200" b="1" dirty="0" smtClean="0"/>
              <a:t>Цел на проекта</a:t>
            </a:r>
            <a:endParaRPr lang="bg-BG" sz="3200" b="1" dirty="0"/>
          </a:p>
        </p:txBody>
      </p:sp>
    </p:spTree>
    <p:extLst>
      <p:ext uri="{BB962C8B-B14F-4D97-AF65-F5344CB8AC3E}">
        <p14:creationId xmlns:p14="http://schemas.microsoft.com/office/powerpoint/2010/main" val="4743464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3E0EB"/>
            </a:gs>
            <a:gs pos="74000">
              <a:srgbClr val="F3E0EB"/>
            </a:gs>
            <a:gs pos="92928">
              <a:srgbClr val="F8DFE3"/>
            </a:gs>
            <a:gs pos="83000">
              <a:srgbClr val="F3E0EB"/>
            </a:gs>
            <a:gs pos="100000">
              <a:srgbClr val="F3E0EB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3"/>
          <a:srcRect l="4615" t="15384" r="4615" b="12308"/>
          <a:stretch/>
        </p:blipFill>
        <p:spPr>
          <a:xfrm>
            <a:off x="685800" y="952500"/>
            <a:ext cx="3655423" cy="2911947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82600" y="6667500"/>
            <a:ext cx="4797430" cy="3438525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343065" y="596902"/>
            <a:ext cx="2476500" cy="3276832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2068" y="6743699"/>
            <a:ext cx="6572250" cy="3286125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549" b="28432"/>
          <a:stretch/>
        </p:blipFill>
        <p:spPr>
          <a:xfrm>
            <a:off x="6248400" y="3778332"/>
            <a:ext cx="5943600" cy="291353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069100" y="1257300"/>
            <a:ext cx="6546087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bg-BG" sz="48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Използвани </a:t>
            </a:r>
            <a:r>
              <a:rPr lang="bg-BG" sz="4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технологии</a:t>
            </a:r>
          </a:p>
        </p:txBody>
      </p:sp>
    </p:spTree>
    <p:extLst>
      <p:ext uri="{BB962C8B-B14F-4D97-AF65-F5344CB8AC3E}">
        <p14:creationId xmlns:p14="http://schemas.microsoft.com/office/powerpoint/2010/main" val="39289605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CDFDD"/>
            </a:gs>
            <a:gs pos="74000">
              <a:srgbClr val="FCDFDD"/>
            </a:gs>
            <a:gs pos="83000">
              <a:srgbClr val="FCDFDD"/>
            </a:gs>
            <a:gs pos="100000">
              <a:srgbClr val="FCDFDD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ln>
            <a:solidFill>
              <a:srgbClr val="F3E0EB"/>
            </a:solidFill>
          </a:ln>
        </p:spPr>
      </p:pic>
    </p:spTree>
    <p:extLst>
      <p:ext uri="{BB962C8B-B14F-4D97-AF65-F5344CB8AC3E}">
        <p14:creationId xmlns:p14="http://schemas.microsoft.com/office/powerpoint/2010/main" val="33712021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605"/>
          <a:stretch/>
        </p:blipFill>
        <p:spPr>
          <a:xfrm>
            <a:off x="0" y="-17318"/>
            <a:ext cx="18288000" cy="10304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36063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Картина 3"/>
          <p:cNvPicPr>
            <a:picLocks noChangeAspect="1"/>
          </p:cNvPicPr>
          <p:nvPr/>
        </p:nvPicPr>
        <p:blipFill rotWithShape="1">
          <a:blip r:embed="rId3"/>
          <a:srcRect b="14445"/>
          <a:stretch/>
        </p:blipFill>
        <p:spPr>
          <a:xfrm>
            <a:off x="0" y="0"/>
            <a:ext cx="18440400" cy="1028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7753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3E0EB"/>
            </a:gs>
            <a:gs pos="75000">
              <a:srgbClr val="F3E0EB"/>
            </a:gs>
            <a:gs pos="83000">
              <a:srgbClr val="F3E0EB"/>
            </a:gs>
            <a:gs pos="100000">
              <a:srgbClr val="F3E0EB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04" r="5634"/>
          <a:stretch/>
        </p:blipFill>
        <p:spPr>
          <a:xfrm>
            <a:off x="3657600" y="1581638"/>
            <a:ext cx="13030201" cy="8185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19100"/>
            <a:ext cx="65532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sz="32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Функционалности</a:t>
            </a:r>
            <a:endParaRPr lang="bg-BG" sz="20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6141151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3E0EB"/>
            </a:gs>
            <a:gs pos="75000">
              <a:srgbClr val="F3E0EB"/>
            </a:gs>
            <a:gs pos="83000">
              <a:srgbClr val="F3E0EB"/>
            </a:gs>
            <a:gs pos="100000">
              <a:srgbClr val="F3E0EB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230" y="1104900"/>
            <a:ext cx="9181507" cy="451974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4"/>
          <a:srcRect l="3808" t="10926" r="3561" b="8433"/>
          <a:stretch/>
        </p:blipFill>
        <p:spPr>
          <a:xfrm>
            <a:off x="2514600" y="5753100"/>
            <a:ext cx="8534400" cy="411834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69" t="47" r="12977" b="-47"/>
          <a:stretch/>
        </p:blipFill>
        <p:spPr>
          <a:xfrm>
            <a:off x="9829800" y="2095500"/>
            <a:ext cx="7165727" cy="445718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999183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 5"/>
          <p:cNvSpPr/>
          <p:nvPr/>
        </p:nvSpPr>
        <p:spPr>
          <a:xfrm rot="1554809">
            <a:off x="-918805" y="6075489"/>
            <a:ext cx="5430656" cy="5065321"/>
          </a:xfrm>
          <a:custGeom>
            <a:avLst/>
            <a:gdLst/>
            <a:ahLst/>
            <a:cxnLst/>
            <a:rect l="l" t="t" r="r" b="b"/>
            <a:pathLst>
              <a:path w="5430656" h="5065321">
                <a:moveTo>
                  <a:pt x="0" y="0"/>
                </a:moveTo>
                <a:lnTo>
                  <a:pt x="5430656" y="0"/>
                </a:lnTo>
                <a:lnTo>
                  <a:pt x="5430656" y="5065321"/>
                </a:lnTo>
                <a:lnTo>
                  <a:pt x="0" y="506532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="" xmlns:asvg="http://schemas.microsoft.com/office/drawing/2016/SVG/main" r:embed="rId4"/>
                </a:ext>
              </a:extLst>
            </a:blip>
            <a:stretch>
              <a:fillRect/>
            </a:stretch>
          </a:blipFill>
          <a:scene3d>
            <a:camera prst="orthographicFront"/>
            <a:lightRig rig="threePt" dir="t"/>
          </a:scene3d>
          <a:sp3d contourW="12700">
            <a:contourClr>
              <a:srgbClr val="F3E0EB"/>
            </a:contourClr>
          </a:sp3d>
        </p:spPr>
      </p:sp>
      <p:sp>
        <p:nvSpPr>
          <p:cNvPr id="6" name="Freeform 6"/>
          <p:cNvSpPr/>
          <p:nvPr/>
        </p:nvSpPr>
        <p:spPr>
          <a:xfrm rot="19569478">
            <a:off x="13839720" y="-397279"/>
            <a:ext cx="4863281" cy="4934047"/>
          </a:xfrm>
          <a:custGeom>
            <a:avLst/>
            <a:gdLst/>
            <a:ahLst/>
            <a:cxnLst/>
            <a:rect l="l" t="t" r="r" b="b"/>
            <a:pathLst>
              <a:path w="3852949" h="4114800">
                <a:moveTo>
                  <a:pt x="0" y="0"/>
                </a:moveTo>
                <a:lnTo>
                  <a:pt x="3852949" y="0"/>
                </a:lnTo>
                <a:lnTo>
                  <a:pt x="3852949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=""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9" name="TextBox 9"/>
          <p:cNvSpPr txBox="1"/>
          <p:nvPr/>
        </p:nvSpPr>
        <p:spPr>
          <a:xfrm>
            <a:off x="3505200" y="4487943"/>
            <a:ext cx="11887200" cy="41036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156"/>
              </a:lnSpc>
              <a:spcBef>
                <a:spcPct val="0"/>
              </a:spcBef>
            </a:pPr>
            <a:r>
              <a:rPr lang="bg-BG" sz="6600" b="1" dirty="0">
                <a:solidFill>
                  <a:srgbClr val="002060"/>
                </a:solidFill>
              </a:rPr>
              <a:t>Благодаря Ви за вниманието!</a:t>
            </a:r>
            <a:endParaRPr lang="en-US" sz="6000" b="1" dirty="0">
              <a:solidFill>
                <a:srgbClr val="00206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</p:spTree>
    <p:extLst>
      <p:ext uri="{BB962C8B-B14F-4D97-AF65-F5344CB8AC3E}">
        <p14:creationId xmlns:p14="http://schemas.microsoft.com/office/powerpoint/2010/main" val="28133195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651</TotalTime>
  <Words>529</Words>
  <Application>Microsoft Office PowerPoint</Application>
  <PresentationFormat>Custom</PresentationFormat>
  <Paragraphs>34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Calibri</vt:lpstr>
      <vt:lpstr>Canva Sans Bold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Вашият текст в абзац</dc:title>
  <cp:lastModifiedBy>Admin</cp:lastModifiedBy>
  <cp:revision>37</cp:revision>
  <dcterms:created xsi:type="dcterms:W3CDTF">2006-08-16T00:00:00Z</dcterms:created>
  <dcterms:modified xsi:type="dcterms:W3CDTF">2026-05-12T09:40:40Z</dcterms:modified>
  <dc:identifier>DAHHeQJz9wk</dc:identifier>
</cp:coreProperties>
</file>