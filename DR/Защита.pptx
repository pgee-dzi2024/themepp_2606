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5" r:id="rId4"/>
    <p:sldId id="260" r:id="rId5"/>
    <p:sldId id="262" r:id="rId6"/>
    <p:sldId id="263" r:id="rId7"/>
    <p:sldId id="264" r:id="rId8"/>
    <p:sldId id="266" r:id="rId9"/>
    <p:sldId id="261" r:id="rId10"/>
    <p:sldId id="259" r:id="rId11"/>
  </p:sldIdLst>
  <p:sldSz cx="18288000" cy="10287000"/>
  <p:notesSz cx="6858000" cy="9144000"/>
  <p:embeddedFontLst>
    <p:embeddedFont>
      <p:font typeface="Canva Sans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0EB"/>
    <a:srgbClr val="FCD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94622" autoAdjust="0"/>
  </p:normalViewPr>
  <p:slideViewPr>
    <p:cSldViewPr>
      <p:cViewPr varScale="1">
        <p:scale>
          <a:sx n="71" d="100"/>
          <a:sy n="71" d="100"/>
        </p:scale>
        <p:origin x="62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A1198-2A86-474E-A6A0-AC2BDB7959EA}" type="datetimeFigureOut">
              <a:rPr lang="bg-BG" smtClean="0"/>
              <a:t>28.4.2026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F0E7F-7FC3-419E-82C9-4F159C3F32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5527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Уважаема, г-жо Директор, Уважаема комисия уважаеми гости….</a:t>
            </a:r>
          </a:p>
          <a:p>
            <a:r>
              <a:rPr lang="ru-RU" dirty="0" smtClean="0"/>
              <a:t>(ако има такива/или поименно- ако е един конкретен гост)</a:t>
            </a:r>
          </a:p>
          <a:p>
            <a:r>
              <a:rPr lang="ru-RU" dirty="0" smtClean="0"/>
              <a:t>Аз съм Елонка Назърова</a:t>
            </a:r>
          </a:p>
          <a:p>
            <a:r>
              <a:rPr lang="ru-RU" dirty="0" smtClean="0"/>
              <a:t>Темата на моя дипломен проект е „Виртуално студио за маникюр“.Насочен е към създаването на приложение, което позволява на потребителите да изпробват различни маникюрни дизайни виртуално върху собствената си ръка.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1967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последните години дигиталните технологии навлизат все повече в сферата на красотата.Много клиенти се колебаят какъв маникюр да изберат и искат да видят предварителен резултат.Затова виртуалните приложения са актуални, защото позволяват лесна и бърза визуализация на различни дизайни.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72282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Основната цел на проекта е създаване на приложение, което позволява на потребителя първо да избере маникюрен дизайн от галерия, а след това да качи снимка на ръката си или да използва камерата, за да види как избраният дизайн би изглеждал върху ноктите му.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1440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разработката на проекта е използван Python, подходящ за обработка на изображения и уеб приложения. Сървърната част е реализирана с Django. За разпознаване на ръката е използвана библиотеката MediaPipe, а за обработка на изображения – OpenCV и Pillow. Потребителският интерфейс е изграден с HTML, CSS и JavaScript.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1645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Компютърното зрение е област от изкуствения интелект, която позволява на компютрите да анализират изображения. В проекта се използва MediaPipe за откриване на ключови точки на ръката. Тя разпознава 21 точки, включително върховете на пръстите и ставите, които се използват за определяне на позицията и ориентацията на ноктите.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8802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реалистична визуализация на маникюра се използват техники за обработка на изображения, включващи цветови модели RGB и RGBA и геометрични трансформации за мащабиране и завъртане. Използва се и alpha blending за плавно наслагване на дизайна върху ноктите.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3091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Работата на приложението започва с качване на изображение или използване на камера в реално време. Системата анализира изображението и открива ключовите точки на ръката, като на тази база определя позицията и размера на ноктите. След това избраният маникюрен дизайн се мащабира и завърта според формата и ориентацията на ноктите и се наслагва върху изображението.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38958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Приложението предлага основни функционалности: качване на снимка или използване на камера в реално време. Системата автоматично разпознава ръката и позицията на пръстите. Потребителят може да избере маникюрни дизайни, които се наслагват върху ноктите и се визуализират в реално време.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30890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резултат на разработката беше създадено приложение, което позволява виртуално изпробване на маникюрни дизайни.Проектът демонстрира как технологии като компютърно зрение и обработка на изображения могат да бъдат използвани за създаване на интерактивни дигитални услуги.В бъдеще системата може да бъде доразвита и използвана в реални приложения в индустрията за красота.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3737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ви за вниманието.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Готова съм да отговоря на вашите въпроси?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F0E7F-7FC3-419E-82C9-4F159C3F3243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6826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E0EB"/>
            </a:gs>
            <a:gs pos="74000">
              <a:srgbClr val="F3E0EB"/>
            </a:gs>
            <a:gs pos="92928">
              <a:srgbClr val="F8DFE3"/>
            </a:gs>
            <a:gs pos="83000">
              <a:srgbClr val="F3E0EB"/>
            </a:gs>
            <a:gs pos="100000">
              <a:srgbClr val="F3E0E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1554809">
            <a:off x="-766405" y="5694488"/>
            <a:ext cx="5430656" cy="5065321"/>
          </a:xfrm>
          <a:custGeom>
            <a:avLst/>
            <a:gdLst/>
            <a:ahLst/>
            <a:cxnLst/>
            <a:rect l="l" t="t" r="r" b="b"/>
            <a:pathLst>
              <a:path w="5430656" h="5065321">
                <a:moveTo>
                  <a:pt x="0" y="0"/>
                </a:moveTo>
                <a:lnTo>
                  <a:pt x="5430656" y="0"/>
                </a:lnTo>
                <a:lnTo>
                  <a:pt x="5430656" y="5065321"/>
                </a:lnTo>
                <a:lnTo>
                  <a:pt x="0" y="50653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  <a:scene3d>
            <a:camera prst="orthographicFront"/>
            <a:lightRig rig="threePt" dir="t"/>
          </a:scene3d>
          <a:sp3d contourW="12700">
            <a:contourClr>
              <a:srgbClr val="F3E0EB"/>
            </a:contourClr>
          </a:sp3d>
        </p:spPr>
      </p:sp>
      <p:sp>
        <p:nvSpPr>
          <p:cNvPr id="6" name="Freeform 6"/>
          <p:cNvSpPr/>
          <p:nvPr/>
        </p:nvSpPr>
        <p:spPr>
          <a:xfrm>
            <a:off x="15081122" y="-647700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scene3d>
            <a:camera prst="orthographicFront"/>
            <a:lightRig rig="threePt" dir="t"/>
          </a:scene3d>
          <a:sp3d extrusionH="76200" contourW="12700">
            <a:extrusionClr>
              <a:srgbClr val="F3E0EB"/>
            </a:extrusionClr>
            <a:contourClr>
              <a:srgbClr val="F3E0EB"/>
            </a:contourClr>
          </a:sp3d>
        </p:spPr>
      </p:sp>
      <p:sp>
        <p:nvSpPr>
          <p:cNvPr id="7" name="Freeform 7"/>
          <p:cNvSpPr/>
          <p:nvPr/>
        </p:nvSpPr>
        <p:spPr>
          <a:xfrm>
            <a:off x="239919" y="411480"/>
            <a:ext cx="3418007" cy="3048000"/>
          </a:xfrm>
          <a:custGeom>
            <a:avLst/>
            <a:gdLst/>
            <a:ahLst/>
            <a:cxnLst/>
            <a:rect l="l" t="t" r="r" b="b"/>
            <a:pathLst>
              <a:path w="2428058" h="2261188">
                <a:moveTo>
                  <a:pt x="0" y="0"/>
                </a:moveTo>
                <a:lnTo>
                  <a:pt x="2428057" y="0"/>
                </a:lnTo>
                <a:lnTo>
                  <a:pt x="2428057" y="2261188"/>
                </a:lnTo>
                <a:lnTo>
                  <a:pt x="0" y="2261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37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268200" y="9410700"/>
            <a:ext cx="49344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Дипломант:Елонка Назърова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86200" y="4946072"/>
            <a:ext cx="1059180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Тема</a:t>
            </a:r>
            <a:r>
              <a:rPr lang="en-US" sz="3600" b="1" dirty="0" smtClean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bg-BG" sz="3600" b="1" dirty="0" smtClean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00" b="1" dirty="0" smtClean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Виртуално </a:t>
            </a:r>
            <a:r>
              <a:rPr lang="en-US" sz="2800" b="1" dirty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студио за маникюр (Virtual Nail Art Try‑On).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71800" y="1095004"/>
            <a:ext cx="116586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000" b="1" dirty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Държавен изпит за придобиване на трета степен на професионална квалификация  - част по теорията на професията </a:t>
            </a:r>
            <a:r>
              <a:rPr lang="en-US" sz="2000" b="1" dirty="0" smtClean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 </a:t>
            </a:r>
            <a:r>
              <a:rPr lang="en-US" sz="2000" b="1" dirty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професия код 481030  „Приложен програмист”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B207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специалност код 4810301 „Приложно програмиране”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16620066" cy="929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15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E0EB"/>
            </a:gs>
            <a:gs pos="74000">
              <a:srgbClr val="F3E0EB"/>
            </a:gs>
            <a:gs pos="83000">
              <a:srgbClr val="F3E0EB"/>
            </a:gs>
            <a:gs pos="100000">
              <a:srgbClr val="F3E0E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45952"/>
            <a:ext cx="14249400" cy="8794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572000" y="190500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 dirty="0" smtClean="0"/>
              <a:t>Цел на проекта</a:t>
            </a:r>
            <a:endParaRPr lang="bg-BG" sz="3200" b="1" dirty="0"/>
          </a:p>
        </p:txBody>
      </p:sp>
    </p:spTree>
    <p:extLst>
      <p:ext uri="{BB962C8B-B14F-4D97-AF65-F5344CB8AC3E}">
        <p14:creationId xmlns:p14="http://schemas.microsoft.com/office/powerpoint/2010/main" val="474346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E0EB"/>
            </a:gs>
            <a:gs pos="74000">
              <a:srgbClr val="F3E0EB"/>
            </a:gs>
            <a:gs pos="92928">
              <a:srgbClr val="F8DFE3"/>
            </a:gs>
            <a:gs pos="83000">
              <a:srgbClr val="F3E0EB"/>
            </a:gs>
            <a:gs pos="100000">
              <a:srgbClr val="F3E0E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4615" t="15384" r="4615" b="12308"/>
          <a:stretch/>
        </p:blipFill>
        <p:spPr>
          <a:xfrm>
            <a:off x="685800" y="952500"/>
            <a:ext cx="3655423" cy="29119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6667500"/>
            <a:ext cx="4797430" cy="3438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43065" y="596902"/>
            <a:ext cx="2476500" cy="32768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068" y="6743699"/>
            <a:ext cx="6572250" cy="3286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9" b="28432"/>
          <a:stretch/>
        </p:blipFill>
        <p:spPr>
          <a:xfrm>
            <a:off x="6248400" y="3778332"/>
            <a:ext cx="5943600" cy="29135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69100" y="1257300"/>
            <a:ext cx="65460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Използвани </a:t>
            </a:r>
            <a:r>
              <a:rPr lang="bg-BG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3928960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CDFDD"/>
            </a:gs>
            <a:gs pos="74000">
              <a:srgbClr val="FCDFDD"/>
            </a:gs>
            <a:gs pos="83000">
              <a:srgbClr val="FCDFDD"/>
            </a:gs>
            <a:gs pos="100000">
              <a:srgbClr val="FCDFD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>
            <a:solidFill>
              <a:srgbClr val="F3E0EB"/>
            </a:solidFill>
          </a:ln>
        </p:spPr>
      </p:pic>
    </p:spTree>
    <p:extLst>
      <p:ext uri="{BB962C8B-B14F-4D97-AF65-F5344CB8AC3E}">
        <p14:creationId xmlns:p14="http://schemas.microsoft.com/office/powerpoint/2010/main" val="337120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11"/>
          <a:stretch/>
        </p:blipFill>
        <p:spPr>
          <a:xfrm>
            <a:off x="-76200" y="-17318"/>
            <a:ext cx="18364200" cy="1041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06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5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E0EB"/>
            </a:gs>
            <a:gs pos="75000">
              <a:srgbClr val="F3E0EB"/>
            </a:gs>
            <a:gs pos="83000">
              <a:srgbClr val="F3E0EB"/>
            </a:gs>
            <a:gs pos="100000">
              <a:srgbClr val="F3E0E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4" r="5634"/>
          <a:stretch/>
        </p:blipFill>
        <p:spPr>
          <a:xfrm>
            <a:off x="3657600" y="1581638"/>
            <a:ext cx="13030201" cy="8185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9100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Функционалности</a:t>
            </a:r>
            <a:endParaRPr lang="bg-BG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4115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E0EB"/>
            </a:gs>
            <a:gs pos="75000">
              <a:srgbClr val="F3E0EB"/>
            </a:gs>
            <a:gs pos="83000">
              <a:srgbClr val="F3E0EB"/>
            </a:gs>
            <a:gs pos="100000">
              <a:srgbClr val="F3E0E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30" y="1104900"/>
            <a:ext cx="9181507" cy="4519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3808" t="10926" r="3561" b="8433"/>
          <a:stretch/>
        </p:blipFill>
        <p:spPr>
          <a:xfrm>
            <a:off x="2514600" y="5753100"/>
            <a:ext cx="8534400" cy="4118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9" t="47" r="12977" b="-47"/>
          <a:stretch/>
        </p:blipFill>
        <p:spPr>
          <a:xfrm>
            <a:off x="9829800" y="2095500"/>
            <a:ext cx="7165727" cy="4457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9918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1554809">
            <a:off x="-918805" y="6075489"/>
            <a:ext cx="5430656" cy="5065321"/>
          </a:xfrm>
          <a:custGeom>
            <a:avLst/>
            <a:gdLst/>
            <a:ahLst/>
            <a:cxnLst/>
            <a:rect l="l" t="t" r="r" b="b"/>
            <a:pathLst>
              <a:path w="5430656" h="5065321">
                <a:moveTo>
                  <a:pt x="0" y="0"/>
                </a:moveTo>
                <a:lnTo>
                  <a:pt x="5430656" y="0"/>
                </a:lnTo>
                <a:lnTo>
                  <a:pt x="5430656" y="5065321"/>
                </a:lnTo>
                <a:lnTo>
                  <a:pt x="0" y="50653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  <a:scene3d>
            <a:camera prst="orthographicFront"/>
            <a:lightRig rig="threePt" dir="t"/>
          </a:scene3d>
          <a:sp3d contourW="12700">
            <a:contourClr>
              <a:srgbClr val="F3E0EB"/>
            </a:contourClr>
          </a:sp3d>
        </p:spPr>
      </p:sp>
      <p:sp>
        <p:nvSpPr>
          <p:cNvPr id="6" name="Freeform 6"/>
          <p:cNvSpPr/>
          <p:nvPr/>
        </p:nvSpPr>
        <p:spPr>
          <a:xfrm rot="19569478">
            <a:off x="13839720" y="-397279"/>
            <a:ext cx="4863281" cy="4934047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05200" y="4487943"/>
            <a:ext cx="11887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  <a:spcBef>
                <a:spcPct val="0"/>
              </a:spcBef>
            </a:pPr>
            <a:r>
              <a:rPr lang="bg-BG" sz="6600" b="1" dirty="0">
                <a:solidFill>
                  <a:srgbClr val="002060"/>
                </a:solidFill>
              </a:rPr>
              <a:t>Благодаря Ви за вниманието!</a:t>
            </a:r>
            <a:endParaRPr lang="en-US" sz="6000" b="1" dirty="0">
              <a:solidFill>
                <a:srgbClr val="00206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813319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525</Words>
  <Application>Microsoft Office PowerPoint</Application>
  <PresentationFormat>Custom</PresentationFormat>
  <Paragraphs>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Вашият текст в абзац</dc:title>
  <cp:lastModifiedBy>Admin</cp:lastModifiedBy>
  <cp:revision>26</cp:revision>
  <dcterms:created xsi:type="dcterms:W3CDTF">2006-08-16T00:00:00Z</dcterms:created>
  <dcterms:modified xsi:type="dcterms:W3CDTF">2026-04-28T09:48:14Z</dcterms:modified>
  <dc:identifier>DAHHeQJz9wk</dc:identifier>
</cp:coreProperties>
</file>