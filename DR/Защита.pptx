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1" r:id="rId4"/>
    <p:sldId id="260" r:id="rId5"/>
    <p:sldId id="262" r:id="rId6"/>
    <p:sldId id="259" r:id="rId7"/>
  </p:sldIdLst>
  <p:sldSz cx="18288000" cy="10287000"/>
  <p:notesSz cx="6858000" cy="9144000"/>
  <p:embeddedFontLst>
    <p:embeddedFont>
      <p:font typeface="Canva Sans Bold" panose="020B0604020202020204" charset="0"/>
      <p:regular r:id="rId9"/>
    </p:embeddedFont>
    <p:embeddedFont>
      <p:font typeface="Calibri" panose="020F050202020403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D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EA1198-2A86-474E-A6A0-AC2BDB7959EA}" type="datetimeFigureOut">
              <a:rPr lang="bg-BG" smtClean="0"/>
              <a:t>22.4.2026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EF0E7F-7FC3-419E-82C9-4F159C3F3243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52714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Уважаема, г-жо Директор, Уважаема комисия уважаеми гости….</a:t>
            </a:r>
          </a:p>
          <a:p>
            <a:r>
              <a:rPr lang="ru-RU" dirty="0" smtClean="0"/>
              <a:t>(ако има такива/или поименно- ако е един конкретен гост)</a:t>
            </a:r>
          </a:p>
          <a:p>
            <a:r>
              <a:rPr lang="ru-RU" dirty="0" smtClean="0"/>
              <a:t>Аз съм Елонка Назърова</a:t>
            </a:r>
          </a:p>
          <a:p>
            <a:r>
              <a:rPr lang="ru-RU" dirty="0" smtClean="0"/>
              <a:t>Темата на моя дипломен проект е „Виртуално студио за маникюр“.Насочен е към създаването на приложение, което позволява на потребителите да изпробват различни маникюрни дизайни виртуално върху собствената си ръка.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196770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последните години дигиталните технологии навлизат все повече в сферата на красотата.Много клиенти се колебаят какъв маникюр да изберат и искат да видят предварителен резултат.Затова виртуалните приложения са актуални, защото позволяват лесна и бърза визуализация на различни дизайни.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722825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Основната цел на проекта е създаване на приложение, което позволява на потребителя да качи снимка на ръката си или да използва камерата, след което да избере маникюрен дизайн и да види как би изглеждал върху ноктите.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3737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разработката на проекта е използван Python, подходящ за обработка на изображения и уеб приложения. Сървърната част е реализирана с Django. За разпознаване на ръката е използвана библиотеката MediaPipe, а за обработка на изображения – OpenCV и Pillow. Потребителският интерфейс е изграден с HTML, CSS и JavaScript.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16454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Компютърното зрение е област от изкуствения интелект, която позволява на компютрите да анализират изображения. В проекта се използва MediaPipe за откриване на ключови точки на ръката. Тя разпознава 21 точки, включително върховете на пръстите и ставите, които се използват за определяне на позицията и ориентацията на ноктите.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58802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Благодаря ви за вниманието.</a:t>
            </a:r>
          </a:p>
          <a:p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Готова съм да отговоря на вашите въпроси?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EF0E7F-7FC3-419E-82C9-4F159C3F3243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68262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2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8600" y="419100"/>
            <a:ext cx="17145000" cy="90678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CDFDD"/>
            </a:solidFill>
            <a:ln w="285750" cap="rnd">
              <a:solidFill>
                <a:srgbClr val="F4BDBC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>
                <a:solidFill>
                  <a:srgbClr val="FCDFDD"/>
                </a:solidFill>
              </a:endParaRPr>
            </a:p>
          </p:txBody>
        </p:sp>
      </p:grpSp>
      <p:sp>
        <p:nvSpPr>
          <p:cNvPr id="5" name="Freeform 5"/>
          <p:cNvSpPr/>
          <p:nvPr/>
        </p:nvSpPr>
        <p:spPr>
          <a:xfrm rot="1554809">
            <a:off x="-193258" y="5389689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323315" y="46341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40662" y="973147"/>
            <a:ext cx="2428058" cy="2261188"/>
          </a:xfrm>
          <a:custGeom>
            <a:avLst/>
            <a:gdLst/>
            <a:ahLst/>
            <a:cxnLst/>
            <a:rect l="l" t="t" r="r" b="b"/>
            <a:pathLst>
              <a:path w="2428058" h="2261188">
                <a:moveTo>
                  <a:pt x="0" y="0"/>
                </a:moveTo>
                <a:lnTo>
                  <a:pt x="2428057" y="0"/>
                </a:lnTo>
                <a:lnTo>
                  <a:pt x="2428057" y="2261188"/>
                </a:lnTo>
                <a:lnTo>
                  <a:pt x="0" y="22611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7379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1143799" y="7247188"/>
            <a:ext cx="3937323" cy="339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Дипломант:Елонка Назърова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932836" y="5235164"/>
            <a:ext cx="9283540" cy="4103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en-US" sz="2800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Тема</a:t>
            </a:r>
            <a:r>
              <a:rPr lang="en-US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:</a:t>
            </a:r>
            <a:r>
              <a:rPr lang="bg-BG" sz="2800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r>
              <a:rPr lang="en-US" sz="2254" b="1" dirty="0" smtClean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Виртуално </a:t>
            </a:r>
            <a:r>
              <a:rPr lang="en-US" sz="2254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студио за маникюр (Virtual Nail Art Try‑On).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022056" y="1565132"/>
            <a:ext cx="11301259" cy="1077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Държавен изпит за придобиване на трета степен на професионална квалификация  - част по теорията на професията по професия код 481030  „Приложен програмист”</a:t>
            </a:r>
          </a:p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2B207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специалност код 4810301 „Приложно програмиране”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" b="4824"/>
          <a:stretch/>
        </p:blipFill>
        <p:spPr>
          <a:xfrm>
            <a:off x="0" y="18506"/>
            <a:ext cx="18288000" cy="1026849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" b="4824"/>
          <a:stretch/>
        </p:blipFill>
        <p:spPr>
          <a:xfrm>
            <a:off x="37011" y="0"/>
            <a:ext cx="18288000" cy="1026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15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571500"/>
            <a:ext cx="7900238" cy="38890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69" t="47" r="12977" b="-47"/>
          <a:stretch/>
        </p:blipFill>
        <p:spPr>
          <a:xfrm>
            <a:off x="10515600" y="952500"/>
            <a:ext cx="6553200" cy="40761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5" r="14530" b="7643"/>
          <a:stretch/>
        </p:blipFill>
        <p:spPr>
          <a:xfrm>
            <a:off x="4114800" y="5600700"/>
            <a:ext cx="6248400" cy="4114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99918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/>
          <a:srcRect l="4615" t="15384" r="4615" b="12308"/>
          <a:stretch/>
        </p:blipFill>
        <p:spPr>
          <a:xfrm>
            <a:off x="230777" y="169817"/>
            <a:ext cx="4495800" cy="35814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2600" y="6667500"/>
            <a:ext cx="4797430" cy="34385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43065" y="484182"/>
            <a:ext cx="2476500" cy="327683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068" y="6743699"/>
            <a:ext cx="6572250" cy="3286125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549" b="28432"/>
          <a:stretch/>
        </p:blipFill>
        <p:spPr>
          <a:xfrm>
            <a:off x="5410200" y="3175170"/>
            <a:ext cx="7086600" cy="347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960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CDFDD"/>
            </a:gs>
            <a:gs pos="74000">
              <a:srgbClr val="FCDFDD"/>
            </a:gs>
            <a:gs pos="83000">
              <a:srgbClr val="FCDFDD"/>
            </a:gs>
            <a:gs pos="100000">
              <a:srgbClr val="FCDFDD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8" y="0"/>
            <a:ext cx="18279291" cy="1028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20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74088" y="700448"/>
            <a:ext cx="16230600" cy="8229600"/>
            <a:chOff x="0" y="0"/>
            <a:chExt cx="4274726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274726" cy="2167467"/>
            </a:xfrm>
            <a:custGeom>
              <a:avLst/>
              <a:gdLst/>
              <a:ahLst/>
              <a:cxnLst/>
              <a:rect l="l" t="t" r="r" b="b"/>
              <a:pathLst>
                <a:path w="4274726" h="2167467">
                  <a:moveTo>
                    <a:pt x="24327" y="0"/>
                  </a:moveTo>
                  <a:lnTo>
                    <a:pt x="4250399" y="0"/>
                  </a:lnTo>
                  <a:cubicBezTo>
                    <a:pt x="4263834" y="0"/>
                    <a:pt x="4274726" y="10891"/>
                    <a:pt x="4274726" y="24327"/>
                  </a:cubicBezTo>
                  <a:lnTo>
                    <a:pt x="4274726" y="2143140"/>
                  </a:lnTo>
                  <a:cubicBezTo>
                    <a:pt x="4274726" y="2156575"/>
                    <a:pt x="4263834" y="2167467"/>
                    <a:pt x="4250399" y="2167467"/>
                  </a:cubicBezTo>
                  <a:lnTo>
                    <a:pt x="24327" y="2167467"/>
                  </a:lnTo>
                  <a:cubicBezTo>
                    <a:pt x="10891" y="2167467"/>
                    <a:pt x="0" y="2156575"/>
                    <a:pt x="0" y="2143140"/>
                  </a:cubicBezTo>
                  <a:lnTo>
                    <a:pt x="0" y="24327"/>
                  </a:lnTo>
                  <a:cubicBezTo>
                    <a:pt x="0" y="10891"/>
                    <a:pt x="10891" y="0"/>
                    <a:pt x="24327" y="0"/>
                  </a:cubicBezTo>
                  <a:close/>
                </a:path>
              </a:pathLst>
            </a:custGeom>
            <a:solidFill>
              <a:srgbClr val="FCDFDD"/>
            </a:solidFill>
            <a:ln w="285750" cap="rnd">
              <a:solidFill>
                <a:srgbClr val="F4BDBC"/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274726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dirty="0"/>
            </a:p>
          </p:txBody>
        </p:sp>
      </p:grpSp>
      <p:sp>
        <p:nvSpPr>
          <p:cNvPr id="5" name="Freeform 5"/>
          <p:cNvSpPr/>
          <p:nvPr/>
        </p:nvSpPr>
        <p:spPr>
          <a:xfrm rot="1554809">
            <a:off x="-1065404" y="6851776"/>
            <a:ext cx="5430656" cy="5065321"/>
          </a:xfrm>
          <a:custGeom>
            <a:avLst/>
            <a:gdLst/>
            <a:ahLst/>
            <a:cxnLst/>
            <a:rect l="l" t="t" r="r" b="b"/>
            <a:pathLst>
              <a:path w="5430656" h="5065321">
                <a:moveTo>
                  <a:pt x="0" y="0"/>
                </a:moveTo>
                <a:lnTo>
                  <a:pt x="5430656" y="0"/>
                </a:lnTo>
                <a:lnTo>
                  <a:pt x="5430656" y="5065321"/>
                </a:lnTo>
                <a:lnTo>
                  <a:pt x="0" y="506532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=""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018351" y="-1028700"/>
            <a:ext cx="3852949" cy="4114800"/>
          </a:xfrm>
          <a:custGeom>
            <a:avLst/>
            <a:gdLst/>
            <a:ahLst/>
            <a:cxnLst/>
            <a:rect l="l" t="t" r="r" b="b"/>
            <a:pathLst>
              <a:path w="3852949" h="4114800">
                <a:moveTo>
                  <a:pt x="0" y="0"/>
                </a:moveTo>
                <a:lnTo>
                  <a:pt x="3852949" y="0"/>
                </a:lnTo>
                <a:lnTo>
                  <a:pt x="38529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=""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05200" y="4305300"/>
            <a:ext cx="10168376" cy="5099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56"/>
              </a:lnSpc>
              <a:spcBef>
                <a:spcPct val="0"/>
              </a:spcBef>
            </a:pPr>
            <a:r>
              <a:rPr lang="bg-BG" sz="6000" dirty="0">
                <a:solidFill>
                  <a:srgbClr val="002060"/>
                </a:solidFill>
              </a:rPr>
              <a:t>Благодаря Ви за вниманието!</a:t>
            </a:r>
            <a:endParaRPr lang="en-US" sz="5400" b="1" dirty="0">
              <a:solidFill>
                <a:srgbClr val="00206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813319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314</Words>
  <Application>Microsoft Office PowerPoint</Application>
  <PresentationFormat>Custom</PresentationFormat>
  <Paragraphs>21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Canva Sans Bold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Вашият текст в абзац</dc:title>
  <cp:lastModifiedBy>Admin</cp:lastModifiedBy>
  <cp:revision>13</cp:revision>
  <dcterms:created xsi:type="dcterms:W3CDTF">2006-08-16T00:00:00Z</dcterms:created>
  <dcterms:modified xsi:type="dcterms:W3CDTF">2026-04-22T08:41:03Z</dcterms:modified>
  <dc:identifier>DAHHeQJz9wk</dc:identifier>
</cp:coreProperties>
</file>