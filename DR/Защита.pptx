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65" r:id="rId4"/>
    <p:sldId id="260" r:id="rId5"/>
    <p:sldId id="262" r:id="rId6"/>
    <p:sldId id="263" r:id="rId7"/>
    <p:sldId id="264" r:id="rId8"/>
    <p:sldId id="266" r:id="rId9"/>
    <p:sldId id="261" r:id="rId10"/>
    <p:sldId id="259" r:id="rId11"/>
  </p:sldIdLst>
  <p:sldSz cx="18288000" cy="10287000"/>
  <p:notesSz cx="6858000" cy="9144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anva Sans Bold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E0EB"/>
    <a:srgbClr val="FCD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98" autoAdjust="0"/>
    <p:restoredTop sz="73383" autoAdjust="0"/>
  </p:normalViewPr>
  <p:slideViewPr>
    <p:cSldViewPr>
      <p:cViewPr varScale="1">
        <p:scale>
          <a:sx n="56" d="100"/>
          <a:sy n="56" d="100"/>
        </p:scale>
        <p:origin x="1512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A1198-2A86-474E-A6A0-AC2BDB7959EA}" type="datetimeFigureOut">
              <a:rPr lang="bg-BG" smtClean="0"/>
              <a:t>8.5.2026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EF0E7F-7FC3-419E-82C9-4F159C3F324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5271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Уважаема, г-жо Директор, Уважаема комисия уважаеми гости….</a:t>
            </a:r>
          </a:p>
          <a:p>
            <a:r>
              <a:rPr lang="ru-RU" dirty="0" smtClean="0"/>
              <a:t>(ако има такива/или поименно- ако е един конкретен гост)</a:t>
            </a:r>
          </a:p>
          <a:p>
            <a:r>
              <a:rPr lang="ru-RU" dirty="0" smtClean="0"/>
              <a:t>Аз съм Елонка Назърова</a:t>
            </a:r>
          </a:p>
          <a:p>
            <a:r>
              <a:rPr lang="ru-RU" dirty="0" smtClean="0"/>
              <a:t>Темата на моя дипломен проект е „Виртуално студио за маникюр“.Насочен е към създаването на приложение, което позволява на потребителите да изпробват различни маникюрни дизайни виртуално върху собствената си ръка.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1967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последните години дигиталните технологии навлизат все повече в сферата на красотата.Много клиенти се колебаят какъв маникюр да изберат и искат да видят предварителен резултат.Затова виртуалните приложения са актуални, защото позволяват лесна и бърза визуализация на различни дизайни.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72282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Основната цел на проекта е създаване на приложение, което позволява на потребителя първо да избере маникюрен дизайн от галерия, а след това да качи снимка на ръката си или да използва камерата, за да види как избраният дизайн би изглеждал върху ноктите му.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114403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Проектът е разработен с </a:t>
            </a:r>
            <a:r>
              <a:rPr lang="en-US" dirty="0" smtClean="0"/>
              <a:t>Python. </a:t>
            </a:r>
            <a:r>
              <a:rPr lang="bg-BG" dirty="0" smtClean="0"/>
              <a:t>Сървърната част е реализирана с </a:t>
            </a:r>
            <a:r>
              <a:rPr lang="en-US" dirty="0" smtClean="0"/>
              <a:t>Django, </a:t>
            </a:r>
            <a:r>
              <a:rPr lang="bg-BG" dirty="0" smtClean="0"/>
              <a:t>разпознаването на ръката – с </a:t>
            </a:r>
            <a:r>
              <a:rPr lang="en-US" dirty="0" err="1" smtClean="0"/>
              <a:t>MediaPipe</a:t>
            </a:r>
            <a:r>
              <a:rPr lang="en-US" dirty="0" smtClean="0"/>
              <a:t>, </a:t>
            </a:r>
            <a:r>
              <a:rPr lang="bg-BG" dirty="0" smtClean="0"/>
              <a:t>а обработката на изображения – с </a:t>
            </a:r>
            <a:r>
              <a:rPr lang="en-US" dirty="0" err="1" smtClean="0"/>
              <a:t>OpenCV</a:t>
            </a:r>
            <a:r>
              <a:rPr lang="en-US" dirty="0" smtClean="0"/>
              <a:t> </a:t>
            </a:r>
            <a:r>
              <a:rPr lang="bg-BG" dirty="0" smtClean="0"/>
              <a:t>и </a:t>
            </a:r>
            <a:r>
              <a:rPr lang="en-US" dirty="0" smtClean="0"/>
              <a:t>Pillow. </a:t>
            </a:r>
            <a:r>
              <a:rPr lang="bg-BG" dirty="0" smtClean="0"/>
              <a:t>Потребителският интерфейс е изграден с </a:t>
            </a:r>
            <a:r>
              <a:rPr lang="en-US" dirty="0" smtClean="0"/>
              <a:t>HTML, CSS </a:t>
            </a:r>
            <a:r>
              <a:rPr lang="bg-BG" dirty="0" smtClean="0"/>
              <a:t>и </a:t>
            </a:r>
            <a:r>
              <a:rPr lang="en-US" dirty="0" smtClean="0"/>
              <a:t>JavaScript.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1645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Компютърното зрение позволява на компютрите да разпознават изображения. В проекта се използва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MediaPipe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която открива 21 ключови</a:t>
            </a:r>
            <a:r>
              <a:rPr lang="bg-BG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точки на ръката и чрез тях се определя позицията и ориентацията на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88028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по-реалистична визия се използват техники за обработка на изображения – цветови модели като RGB и RGBA, промени в размера и завъртане на изображението, както и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alpha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blending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 плавно наслагване на дизайна върху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3091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Първо се избира дизайн от галерията. След това се качва снимка или се използва камера. Системата открива ръката и ноктите, а накрая адаптира дизайна и го наслагва върху тях.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38958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 позволява качване на снимка или използване на камера в реално време. То автоматично разпознава ръката и пръстите, а избраният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маникюрен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дизайн се наслагва върху ноктите и се показва веднага.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08902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Създаденото приложение</a:t>
            </a:r>
            <a:r>
              <a:rPr lang="ru-RU" baseline="0" dirty="0" smtClean="0"/>
              <a:t> </a:t>
            </a:r>
            <a:r>
              <a:rPr lang="ru-RU" dirty="0" smtClean="0"/>
              <a:t> </a:t>
            </a:r>
            <a:r>
              <a:rPr lang="ru-RU" dirty="0" err="1" smtClean="0"/>
              <a:t>показва</a:t>
            </a:r>
            <a:r>
              <a:rPr lang="ru-RU" dirty="0" smtClean="0"/>
              <a:t> как </a:t>
            </a:r>
            <a:r>
              <a:rPr lang="ru-RU" dirty="0" err="1" smtClean="0"/>
              <a:t>компютърното</a:t>
            </a:r>
            <a:r>
              <a:rPr lang="ru-RU" dirty="0" smtClean="0"/>
              <a:t> зрение и </a:t>
            </a:r>
            <a:r>
              <a:rPr lang="ru-RU" dirty="0" err="1" smtClean="0"/>
              <a:t>обработката</a:t>
            </a:r>
            <a:r>
              <a:rPr lang="ru-RU" dirty="0" smtClean="0"/>
              <a:t> на изображения </a:t>
            </a:r>
            <a:r>
              <a:rPr lang="ru-RU" dirty="0" err="1" smtClean="0"/>
              <a:t>могат</a:t>
            </a:r>
            <a:r>
              <a:rPr lang="ru-RU" dirty="0" smtClean="0"/>
              <a:t> да се </a:t>
            </a:r>
            <a:r>
              <a:rPr lang="ru-RU" dirty="0" err="1" smtClean="0"/>
              <a:t>използват</a:t>
            </a:r>
            <a:r>
              <a:rPr lang="ru-RU" dirty="0" smtClean="0"/>
              <a:t> за </a:t>
            </a:r>
            <a:r>
              <a:rPr lang="ru-RU" dirty="0" err="1" smtClean="0"/>
              <a:t>интерактивни</a:t>
            </a:r>
            <a:r>
              <a:rPr lang="ru-RU" dirty="0" smtClean="0"/>
              <a:t> </a:t>
            </a:r>
            <a:r>
              <a:rPr lang="ru-RU" dirty="0" err="1" smtClean="0"/>
              <a:t>дигитални</a:t>
            </a:r>
            <a:r>
              <a:rPr lang="ru-RU" dirty="0" smtClean="0"/>
              <a:t> решения.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бъдеще системата може да се подобри и да се приложи в индустрията за красота.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37378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вниманието.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Готова съм да отговоря на вашите въпроси?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8262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766405" y="5694488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>
            <a:off x="14735400" y="-266700"/>
            <a:ext cx="3852949" cy="4114800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extrusionH="76200" contourW="12700">
            <a:extrusionClr>
              <a:srgbClr val="F3E0EB"/>
            </a:extrusionClr>
            <a:contourClr>
              <a:srgbClr val="F3E0EB"/>
            </a:contourClr>
          </a:sp3d>
        </p:spPr>
      </p:sp>
      <p:sp>
        <p:nvSpPr>
          <p:cNvPr id="7" name="Freeform 7"/>
          <p:cNvSpPr/>
          <p:nvPr/>
        </p:nvSpPr>
        <p:spPr>
          <a:xfrm>
            <a:off x="239919" y="411480"/>
            <a:ext cx="3418007" cy="3048000"/>
          </a:xfrm>
          <a:custGeom>
            <a:avLst/>
            <a:gdLst/>
            <a:ahLst/>
            <a:cxnLst/>
            <a:rect l="l" t="t" r="r" b="b"/>
            <a:pathLst>
              <a:path w="2428058" h="2261188">
                <a:moveTo>
                  <a:pt x="0" y="0"/>
                </a:moveTo>
                <a:lnTo>
                  <a:pt x="2428057" y="0"/>
                </a:lnTo>
                <a:lnTo>
                  <a:pt x="2428057" y="2261188"/>
                </a:lnTo>
                <a:lnTo>
                  <a:pt x="0" y="22611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737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2268200" y="9410700"/>
            <a:ext cx="4934401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Дипломант:Елонка Назърова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886200" y="4946072"/>
            <a:ext cx="10591801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Тема</a:t>
            </a:r>
            <a:r>
              <a:rPr lang="en-US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bg-BG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Виртуално </a:t>
            </a: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студио за маникюр (Virtual Nail Art Try‑On).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71800" y="1095004"/>
            <a:ext cx="11658600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Държавен изпит за придобиване на трета степен на професионална квалификация  - част по теорията на професията </a:t>
            </a:r>
            <a:r>
              <a:rPr lang="en-US" sz="20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по </a:t>
            </a: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професия код 481030  „Приложен програмист”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специалност код 4810301 „Приложно програмиране”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571500"/>
            <a:ext cx="16620066" cy="9296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615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945952"/>
            <a:ext cx="14249400" cy="8794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4572000" y="190500"/>
            <a:ext cx="8839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3200" b="1" dirty="0" smtClean="0"/>
              <a:t>Цел на проекта</a:t>
            </a:r>
            <a:endParaRPr lang="bg-BG" sz="3200" b="1" dirty="0"/>
          </a:p>
        </p:txBody>
      </p:sp>
    </p:spTree>
    <p:extLst>
      <p:ext uri="{BB962C8B-B14F-4D97-AF65-F5344CB8AC3E}">
        <p14:creationId xmlns:p14="http://schemas.microsoft.com/office/powerpoint/2010/main" val="474346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4615" t="15384" r="4615" b="12308"/>
          <a:stretch/>
        </p:blipFill>
        <p:spPr>
          <a:xfrm>
            <a:off x="685800" y="952500"/>
            <a:ext cx="3655423" cy="291194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2600" y="6667500"/>
            <a:ext cx="4797430" cy="34385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43065" y="596902"/>
            <a:ext cx="2476500" cy="327683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068" y="6743699"/>
            <a:ext cx="6572250" cy="328612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549" b="28432"/>
          <a:stretch/>
        </p:blipFill>
        <p:spPr>
          <a:xfrm>
            <a:off x="6248400" y="3778332"/>
            <a:ext cx="5943600" cy="291353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69100" y="1257300"/>
            <a:ext cx="654608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48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Използвани </a:t>
            </a:r>
            <a:r>
              <a:rPr lang="bg-BG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технологии</a:t>
            </a:r>
          </a:p>
        </p:txBody>
      </p:sp>
    </p:spTree>
    <p:extLst>
      <p:ext uri="{BB962C8B-B14F-4D97-AF65-F5344CB8AC3E}">
        <p14:creationId xmlns:p14="http://schemas.microsoft.com/office/powerpoint/2010/main" val="3928960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CDFDD"/>
            </a:gs>
            <a:gs pos="74000">
              <a:srgbClr val="FCDFDD"/>
            </a:gs>
            <a:gs pos="83000">
              <a:srgbClr val="FCDFDD"/>
            </a:gs>
            <a:gs pos="100000">
              <a:srgbClr val="FCDFDD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ln>
            <a:solidFill>
              <a:srgbClr val="F3E0EB"/>
            </a:solidFill>
          </a:ln>
        </p:spPr>
      </p:pic>
    </p:spTree>
    <p:extLst>
      <p:ext uri="{BB962C8B-B14F-4D97-AF65-F5344CB8AC3E}">
        <p14:creationId xmlns:p14="http://schemas.microsoft.com/office/powerpoint/2010/main" val="3371202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605"/>
          <a:stretch/>
        </p:blipFill>
        <p:spPr>
          <a:xfrm>
            <a:off x="0" y="-17318"/>
            <a:ext cx="18288000" cy="10304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60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Картина 3"/>
          <p:cNvPicPr>
            <a:picLocks noChangeAspect="1"/>
          </p:cNvPicPr>
          <p:nvPr/>
        </p:nvPicPr>
        <p:blipFill rotWithShape="1">
          <a:blip r:embed="rId3"/>
          <a:srcRect b="14445"/>
          <a:stretch/>
        </p:blipFill>
        <p:spPr>
          <a:xfrm>
            <a:off x="0" y="0"/>
            <a:ext cx="184404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75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" r="5634"/>
          <a:stretch/>
        </p:blipFill>
        <p:spPr>
          <a:xfrm>
            <a:off x="3657600" y="1581638"/>
            <a:ext cx="13030201" cy="8185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9100"/>
            <a:ext cx="655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Функционалности</a:t>
            </a:r>
            <a:endParaRPr lang="bg-BG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14115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230" y="1104900"/>
            <a:ext cx="9181507" cy="45197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/>
          <a:srcRect l="3808" t="10926" r="3561" b="8433"/>
          <a:stretch/>
        </p:blipFill>
        <p:spPr>
          <a:xfrm>
            <a:off x="2514600" y="5753100"/>
            <a:ext cx="8534400" cy="41183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9" t="47" r="12977" b="-47"/>
          <a:stretch/>
        </p:blipFill>
        <p:spPr>
          <a:xfrm>
            <a:off x="9829800" y="2095500"/>
            <a:ext cx="7165727" cy="44571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99918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918805" y="6075489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 rot="19569478">
            <a:off x="13839720" y="-397279"/>
            <a:ext cx="4863281" cy="4934047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3505200" y="4487943"/>
            <a:ext cx="11887200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bg-BG" sz="6600" b="1" dirty="0">
                <a:solidFill>
                  <a:srgbClr val="002060"/>
                </a:solidFill>
              </a:rPr>
              <a:t>Благодаря Ви за вниманието!</a:t>
            </a:r>
            <a:endParaRPr lang="en-US" sz="6000" b="1" dirty="0">
              <a:solidFill>
                <a:srgbClr val="00206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813319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602</TotalTime>
  <Words>438</Words>
  <Application>Microsoft Office PowerPoint</Application>
  <PresentationFormat>Custom</PresentationFormat>
  <Paragraphs>32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Calibri</vt:lpstr>
      <vt:lpstr>Arial</vt:lpstr>
      <vt:lpstr>Canva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Вашият текст в абзац</dc:title>
  <cp:lastModifiedBy>Admin</cp:lastModifiedBy>
  <cp:revision>35</cp:revision>
  <dcterms:created xsi:type="dcterms:W3CDTF">2006-08-16T00:00:00Z</dcterms:created>
  <dcterms:modified xsi:type="dcterms:W3CDTF">2026-05-08T07:16:12Z</dcterms:modified>
  <dc:identifier>DAHHeQJz9wk</dc:identifier>
</cp:coreProperties>
</file>